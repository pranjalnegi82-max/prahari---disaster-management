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landscape_scene_of_a_mountainous_va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241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PRAHARI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67512" y="17190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3E2C9"/>
                </a:solidFill>
              </a:rPr>
              <a:t>Predictive Risk Assessment, Hazard Alert &amp; Response Intelligence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76656" y="217627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F2F5"/>
                </a:solidFill>
              </a:rPr>
              <a:t>AI-Based Early Warning and Landslide Risk Monitoring System in Northeast India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13232" y="283464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9A7A6">
              <a:alpha val="92000"/>
            </a:srgbClr>
          </a:solidFill>
          <a:ln w="12700">
            <a:solidFill>
              <a:srgbClr val="19A7A6">
                <a:alpha val="5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907792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SIH26001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1965960" y="283464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2B84B">
              <a:alpha val="92000"/>
            </a:srgbClr>
          </a:solidFill>
          <a:ln w="12700">
            <a:solidFill>
              <a:srgbClr val="F2B84B">
                <a:alpha val="5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75688" y="2907792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Disaster Management</a:t>
            </a:r>
            <a:endParaRPr lang="en-US" sz="780" dirty="0"/>
          </a:p>
        </p:txBody>
      </p:sp>
      <p:sp>
        <p:nvSpPr>
          <p:cNvPr id="10" name="Shape 7"/>
          <p:cNvSpPr/>
          <p:nvPr/>
        </p:nvSpPr>
        <p:spPr>
          <a:xfrm>
            <a:off x="3822192" y="283464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35C777">
              <a:alpha val="92000"/>
            </a:srgbClr>
          </a:solidFill>
          <a:ln w="12700">
            <a:solidFill>
              <a:srgbClr val="35C777">
                <a:alpha val="5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0" y="2907792"/>
            <a:ext cx="1380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Low-bandwidth ready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13232" y="598017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Research-backed • Explainable • Community-centred • Offline-capable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E95A4"/>
                </a:solidFill>
              </a:rPr>
              <a:t>PRAHARI • SIH26001 • AI-Based Early Warning and Landslide Risk Monitoring System in NER</a:t>
            </a:r>
            <a:endParaRPr lang="en-US" sz="660" dirty="0"/>
          </a:p>
        </p:txBody>
      </p:sp>
      <p:sp>
        <p:nvSpPr>
          <p:cNvPr id="14" name="Text 11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5A4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outdoor_documentary_style_scen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Problem: landslide risk is dynamic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30352" y="795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E2C9"/>
                </a:solidFill>
              </a:rPr>
              <a:t>The real challenge is not only where landslides happen, but when risk becomes actionable.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88136"/>
            <a:ext cx="2926080" cy="0"/>
          </a:xfrm>
          <a:prstGeom prst="line">
            <a:avLst/>
          </a:prstGeom>
          <a:noFill/>
          <a:ln w="25400">
            <a:solidFill>
              <a:srgbClr val="19A7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3258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F5A5F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150876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Why conventional systems fail</a:t>
            </a:r>
            <a:endParaRPr lang="en-US" sz="1280" dirty="0"/>
          </a:p>
        </p:txBody>
      </p:sp>
      <p:sp>
        <p:nvSpPr>
          <p:cNvPr id="8" name="Text 5"/>
          <p:cNvSpPr/>
          <p:nvPr/>
        </p:nvSpPr>
        <p:spPr>
          <a:xfrm>
            <a:off x="795528" y="1837944"/>
            <a:ext cx="3026664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Manual inspection is slow, satellite-only systems have latency, weather dashboards lack local impact, and many ML studies stop at susceptibility maps.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4389120" y="13258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2B84B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90288" y="150876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NER-specific pressure</a:t>
            </a: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4590288" y="1837944"/>
            <a:ext cx="3026664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Steep terrain, intense rainfall, fragile geology, drainage disruption, road cuts and growing settlements create rapidly changing risk.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183880" y="13258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19A7A6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85048" y="150876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Our response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8385048" y="1837944"/>
            <a:ext cx="3026664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PRAHARI turns multi-source signals into risk, alert, geo-targeting and response planning.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822960" y="416052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A7A6"/>
                </a:solidFill>
              </a:rPr>
              <a:t>4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1609344" y="4270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warning pillars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3611880" y="416052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B84B"/>
                </a:solidFill>
              </a:rPr>
              <a:t>8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4398264" y="4270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monitored zones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6400800" y="416052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5C777"/>
                </a:solidFill>
              </a:rPr>
              <a:t>3</a:t>
            </a:r>
            <a:endParaRPr lang="en-US" sz="2500" dirty="0"/>
          </a:p>
        </p:txBody>
      </p:sp>
      <p:sp>
        <p:nvSpPr>
          <p:cNvPr id="20" name="Text 17"/>
          <p:cNvSpPr/>
          <p:nvPr/>
        </p:nvSpPr>
        <p:spPr>
          <a:xfrm>
            <a:off x="7187184" y="4270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map modes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9189720" y="416052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5A5F"/>
                </a:solidFill>
              </a:rPr>
              <a:t>0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9976104" y="4270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live satellite dependency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E95A4"/>
                </a:solidFill>
              </a:rPr>
              <a:t>PRAHARI • SIH26001 • AI-Based Early Warning and Landslide Risk Monitoring System in NER</a:t>
            </a:r>
            <a:endParaRPr lang="en-US" sz="660" dirty="0"/>
          </a:p>
        </p:txBody>
      </p:sp>
      <p:sp>
        <p:nvSpPr>
          <p:cNvPr id="24" name="Text 21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5A4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isometric_infographic_scene_of_a_landslide_ea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gaps converted into features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30352" y="795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E2C9"/>
                </a:solidFill>
              </a:rPr>
              <a:t>PRAHARI v7 is designed from the gap between susceptibility research and operational warning.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88136"/>
            <a:ext cx="2926080" cy="0"/>
          </a:xfrm>
          <a:prstGeom prst="line">
            <a:avLst/>
          </a:prstGeom>
          <a:noFill/>
          <a:ln w="25400">
            <a:solidFill>
              <a:srgbClr val="19A7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234440"/>
            <a:ext cx="2377440" cy="4206240"/>
          </a:xfrm>
          <a:prstGeom prst="roundRect">
            <a:avLst>
              <a:gd name="adj" fmla="val 307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2B84B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141732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Susceptibility papers</a:t>
            </a:r>
            <a:endParaRPr lang="en-US" sz="1280" dirty="0"/>
          </a:p>
        </p:txBody>
      </p:sp>
      <p:sp>
        <p:nvSpPr>
          <p:cNvPr id="8" name="Text 5"/>
          <p:cNvSpPr/>
          <p:nvPr/>
        </p:nvSpPr>
        <p:spPr>
          <a:xfrm>
            <a:off x="795528" y="1746504"/>
            <a:ext cx="1975104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Strong ML/GIS hazard science; often historical or static, less operational response.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3273552" y="1234440"/>
            <a:ext cx="2377440" cy="4206240"/>
          </a:xfrm>
          <a:prstGeom prst="roundRect">
            <a:avLst>
              <a:gd name="adj" fmla="val 307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35C777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0" y="141732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IoT papers</a:t>
            </a: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3474720" y="1746504"/>
            <a:ext cx="1975104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Continuous sensing and edge processing; often limited spatial scale and fragmented dashboards.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5943600" y="1234440"/>
            <a:ext cx="2377440" cy="4206240"/>
          </a:xfrm>
          <a:prstGeom prst="roundRect">
            <a:avLst>
              <a:gd name="adj" fmla="val 307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19A7A6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44768" y="141732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AI-EWS reviews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6144768" y="1746504"/>
            <a:ext cx="1975104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Need responsible, people-centred warning chains across risk, monitoring, communication and preparedness.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8622792" y="1234440"/>
            <a:ext cx="2377440" cy="4206240"/>
          </a:xfrm>
          <a:prstGeom prst="roundRect">
            <a:avLst>
              <a:gd name="adj" fmla="val 307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F5A5F">
                <a:alpha val="7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23960" y="141732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PRAHARI synthesis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8823960" y="1746504"/>
            <a:ext cx="1975104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Hybrid ML + community intelligence + geofencing + alerting + offline response plan.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E95A4"/>
                </a:solidFill>
              </a:rPr>
              <a:t>PRAHARI • SIH26001 • AI-Based Early Warning and Landslide Risk Monitoring System in NER</a:t>
            </a:r>
            <a:endParaRPr lang="en-US" sz="660" dirty="0"/>
          </a:p>
        </p:txBody>
      </p:sp>
      <p:sp>
        <p:nvSpPr>
          <p:cNvPr id="19" name="Text 16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5A4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PRAHARI 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E2C9"/>
                </a:solidFill>
              </a:rPr>
              <a:t>Data → Intelligence → Warning → Response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2926080" cy="0"/>
          </a:xfrm>
          <a:prstGeom prst="line">
            <a:avLst/>
          </a:prstGeom>
          <a:noFill/>
          <a:ln w="25400">
            <a:solidFill>
              <a:srgbClr val="19A7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3444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35C777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4173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Data Inputs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859536" y="1746504"/>
            <a:ext cx="1929384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Live/latest weather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Rainfall memory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Soil wetness proxy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Terrain baseline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Satellite context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Citizen precursors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IoT telemetry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15468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73E2C9"/>
                </a:solidFill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703320" y="1234440"/>
            <a:ext cx="2423160" cy="2834640"/>
          </a:xfrm>
          <a:prstGeom prst="roundRect">
            <a:avLst>
              <a:gd name="adj" fmla="val 3019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19A7A6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04488" y="141732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Hybrid Risk Engine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3904488" y="1746504"/>
            <a:ext cx="2020824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XGBoost + LightGBM + Random Forest with rainfall memory, uncertainty, SHAP-style explanations and physics guardrail.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638251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73E2C9"/>
                </a:solidFill>
              </a:rPr>
              <a:t>→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6995160" y="123444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2B84B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96328" y="1417320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Decision Layer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7196328" y="1746504"/>
            <a:ext cx="1655064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Hazard probability + impact priority + geo-fence + response checklist.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92354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73E2C9"/>
                </a:solidFill>
              </a:rPr>
              <a:t>→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9829800" y="123444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F5A5F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30968" y="1417320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Action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10030968" y="1746504"/>
            <a:ext cx="1289304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Alert, route, field verification and feedback loop.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777240" y="4709160"/>
            <a:ext cx="10652760" cy="640080"/>
          </a:xfrm>
          <a:prstGeom prst="roundRect">
            <a:avLst>
              <a:gd name="adj" fmla="val 11429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35C777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4892040"/>
            <a:ext cx="10250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Key design principle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978408" y="5221224"/>
            <a:ext cx="10250424" cy="-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The project separates physical hazard from impact. A slope above a road/village is treated differently from an isolated slope.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E95A4"/>
                </a:solidFill>
              </a:rPr>
              <a:t>PRAHARI • SIH26001 • AI-Based Early Warning and Landslide Risk Monitoring System in NER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5A4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Research-mode risk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E2C9"/>
                </a:solidFill>
              </a:rPr>
              <a:t>Prediction that is explainable, conservative and demo-stable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2926080" cy="0"/>
          </a:xfrm>
          <a:prstGeom prst="line">
            <a:avLst/>
          </a:prstGeom>
          <a:noFill/>
          <a:ln w="25400">
            <a:solidFill>
              <a:srgbClr val="19A7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70432"/>
            <a:ext cx="3474720" cy="4315968"/>
          </a:xfrm>
          <a:prstGeom prst="roundRect">
            <a:avLst>
              <a:gd name="adj" fmla="val 2105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2B84B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5331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Static susceptibility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841248" y="1682496"/>
            <a:ext cx="3072384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Slope, elevation, historical risk and vegetation baseline answer: how vulnerable is this terrain?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4343400" y="1170432"/>
            <a:ext cx="3474720" cy="4315968"/>
          </a:xfrm>
          <a:prstGeom prst="roundRect">
            <a:avLst>
              <a:gd name="adj" fmla="val 2105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19A7A6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135331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Dynamic trigger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4544568" y="1682496"/>
            <a:ext cx="3072384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24h rain, 72h antecedent rain, 11-day effective rain, soil wetness, forecast rain and peak hourly rain answer: is failure pressure rising now?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8046720" y="1170432"/>
            <a:ext cx="3474720" cy="4315968"/>
          </a:xfrm>
          <a:prstGeom prst="roundRect">
            <a:avLst>
              <a:gd name="adj" fmla="val 2105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F5A5F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7888" y="135331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Decision output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8247888" y="1682496"/>
            <a:ext cx="3072384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Final probability, LOW/MODERATE/HIGH/CRITICAL, model votes, uncertainty, local factors and recommended action.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777240" y="57881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3E2C9"/>
                </a:solidFill>
              </a:rPr>
              <a:t>Risk thresholds: LOW &lt;35% • MODERATE 35–60% • HIGH 60–80% • CRITICAL ≥80%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E95A4"/>
                </a:solidFill>
              </a:rPr>
              <a:t>PRAHARI • SIH26001 • AI-Based Early Warning and Landslide Risk Monitoring System in NER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5A4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scene_of_a_laptop_on_a_desk_in_a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and APIs are the product backbone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30352" y="795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E2C9"/>
                </a:solidFill>
              </a:rPr>
              <a:t>FastAPI connects all modules through clean, demo-ready endpoints.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88136"/>
            <a:ext cx="2926080" cy="0"/>
          </a:xfrm>
          <a:prstGeom prst="line">
            <a:avLst/>
          </a:prstGeom>
          <a:noFill/>
          <a:ln w="25400">
            <a:solidFill>
              <a:srgbClr val="19A7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234440"/>
            <a:ext cx="2743200" cy="4297680"/>
          </a:xfrm>
          <a:prstGeom prst="roundRect">
            <a:avLst>
              <a:gd name="adj" fmla="val 266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19A7A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141732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Prediction APIs</a:t>
            </a:r>
            <a:endParaRPr lang="en-US" sz="1280" dirty="0"/>
          </a:p>
        </p:txBody>
      </p:sp>
      <p:sp>
        <p:nvSpPr>
          <p:cNvPr id="8" name="Text 5"/>
          <p:cNvSpPr/>
          <p:nvPr/>
        </p:nvSpPr>
        <p:spPr>
          <a:xfrm>
            <a:off x="886968" y="1746504"/>
            <a:ext cx="2340864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/api/predict-risk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/api/forecast-risk/{id}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/api/ml/status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/api/ml/feature-importance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3657600" y="1234440"/>
            <a:ext cx="2743200" cy="4297680"/>
          </a:xfrm>
          <a:prstGeom prst="roundRect">
            <a:avLst>
              <a:gd name="adj" fmla="val 266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35C777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58768" y="141732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Field intelligence</a:t>
            </a: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3858768" y="1746504"/>
            <a:ext cx="2340864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/api/reports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/api/community/signal/{id}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/api/iot/telemetry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/api/geotech/factor-of-safety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6629400" y="1234440"/>
            <a:ext cx="2743200" cy="4297680"/>
          </a:xfrm>
          <a:prstGeom prst="roundRect">
            <a:avLst>
              <a:gd name="adj" fmla="val 266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2B84B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30568" y="141732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Response APIs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6830568" y="1746504"/>
            <a:ext cx="2340864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/api/impact/{id}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/api/response/plan/{id}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/api/geofence/check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/api/alerts/feedback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9601200" y="1234440"/>
            <a:ext cx="1920240" cy="4297680"/>
          </a:xfrm>
          <a:prstGeom prst="roundRect">
            <a:avLst>
              <a:gd name="adj" fmla="val 3810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F5A5F">
                <a:alpha val="7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02368" y="141732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Low bandwidth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9802368" y="1746504"/>
            <a:ext cx="1517904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/api/satellite/cache/status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/api/satellite/cache/warm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/api/satellite/tile/{z}/{y}/{x}.jpg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E95A4"/>
                </a:solidFill>
              </a:rPr>
              <a:t>PRAHARI • SIH26001 • AI-Based Early Warning and Landslide Risk Monitoring System in NER</a:t>
            </a:r>
            <a:endParaRPr lang="en-US" sz="660" dirty="0"/>
          </a:p>
        </p:txBody>
      </p:sp>
      <p:sp>
        <p:nvSpPr>
          <p:cNvPr id="19" name="Text 16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5A4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Satellite strategy that works on college internet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E2C9"/>
                </a:solidFill>
              </a:rPr>
              <a:t>No more waiting for gray tiles during the judge demo.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2926080" cy="0"/>
          </a:xfrm>
          <a:prstGeom prst="line">
            <a:avLst/>
          </a:prstGeom>
          <a:noFill/>
          <a:ln w="25400">
            <a:solidFill>
              <a:srgbClr val="19A7A6"/>
            </a:solidFill>
            <a:prstDash val="solid"/>
          </a:ln>
        </p:spPr>
      </p:sp>
      <p:pic>
        <p:nvPicPr>
          <p:cNvPr id="5" name="Image 0" descr="/mnt/data/prahari_v7_deliverables/ner_eo_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548640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1143000"/>
            <a:ext cx="5029200" cy="1124712"/>
          </a:xfrm>
          <a:prstGeom prst="roundRect">
            <a:avLst>
              <a:gd name="adj" fmla="val 6504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35C777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93408" y="1325880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1. Offline EO Lite</a:t>
            </a:r>
            <a:endParaRPr lang="en-US" sz="1280" dirty="0"/>
          </a:p>
        </p:txBody>
      </p:sp>
      <p:sp>
        <p:nvSpPr>
          <p:cNvPr id="8" name="Text 5"/>
          <p:cNvSpPr/>
          <p:nvPr/>
        </p:nvSpPr>
        <p:spPr>
          <a:xfrm>
            <a:off x="6693408" y="1655064"/>
            <a:ext cx="462686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Bundled local map context loads instantly without internet. Clearly labelled NOT satellite imagery.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6492240" y="2542032"/>
            <a:ext cx="5029200" cy="1124712"/>
          </a:xfrm>
          <a:prstGeom prst="roundRect">
            <a:avLst>
              <a:gd name="adj" fmla="val 6504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19A7A6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2724912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2. Cached NASA</a:t>
            </a: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6693408" y="3054096"/>
            <a:ext cx="462686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Pre-warmed NASA GIBS NRT tiles are served from localhost by FastAPI during the demo.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6492240" y="3941064"/>
            <a:ext cx="5029200" cy="1124712"/>
          </a:xfrm>
          <a:prstGeom prst="roundRect">
            <a:avLst>
              <a:gd name="adj" fmla="val 6504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2B84B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93408" y="4123944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3. NASA Live / Esri / Terrain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6693408" y="4453128"/>
            <a:ext cx="462686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Kept as optional online layers only. Never depend on them in presentation.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6565392" y="55321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A5F"/>
                </a:solidFill>
              </a:rPr>
              <a:t>Demo rule: open Offline EO Lite first, then Cached NASA only if cache is ready.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E95A4"/>
                </a:solidFill>
              </a:rPr>
              <a:t>PRAHARI • SIH26001 • AI-Based Early Warning and Landslide Risk Monitoring System in NER</a:t>
            </a:r>
            <a:endParaRPr lang="en-US" sz="660" dirty="0"/>
          </a:p>
        </p:txBody>
      </p:sp>
      <p:sp>
        <p:nvSpPr>
          <p:cNvPr id="17" name="Text 14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5A4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outdoor_documentary_style_scen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Community intelligence closes the warning gap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30352" y="795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E2C9"/>
                </a:solidFill>
              </a:rPr>
              <a:t>Citizen reports become corroborating evidence, not fake ML predictions.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88136"/>
            <a:ext cx="2926080" cy="0"/>
          </a:xfrm>
          <a:prstGeom prst="line">
            <a:avLst/>
          </a:prstGeom>
          <a:noFill/>
          <a:ln w="25400">
            <a:solidFill>
              <a:srgbClr val="19A7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14300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19A7A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132588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Precursors captured</a:t>
            </a:r>
            <a:endParaRPr lang="en-US" sz="1280" dirty="0"/>
          </a:p>
        </p:txBody>
      </p:sp>
      <p:sp>
        <p:nvSpPr>
          <p:cNvPr id="8" name="Text 5"/>
          <p:cNvSpPr/>
          <p:nvPr/>
        </p:nvSpPr>
        <p:spPr>
          <a:xfrm>
            <a:off x="841248" y="1655064"/>
            <a:ext cx="3163824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Surface cracks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Water seepage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Slope movement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Debris / rockfall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Blocked drainage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Leaning tree / pole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Unusual ground sound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4480560" y="1143000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35C777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81728" y="132588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Corroboration score</a:t>
            </a: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4681728" y="1655064"/>
            <a:ext cx="2980944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Severity × precursor weight × distance × recency × verification status.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138160" y="1143000"/>
            <a:ext cx="3108960" cy="4434840"/>
          </a:xfrm>
          <a:prstGeom prst="roundRect">
            <a:avLst>
              <a:gd name="adj" fmla="val 2353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2B84B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39328" y="1325880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Operational workflow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8339328" y="1655064"/>
            <a:ext cx="2706624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NEW → VERIFIED → DISPATCHED → RESOLVED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High/Critical reports can enter the alert pipeline for verification.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E95A4"/>
                </a:solidFill>
              </a:rPr>
              <a:t>PRAHARI • SIH26001 • AI-Based Early Warning and Landslide Risk Monitoring System in NER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5A4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Impact-based warning: from probability to priority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E2C9"/>
                </a:solidFill>
              </a:rPr>
              <a:t>PRAHARI asks: what will the hazard do?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2926080" cy="0"/>
          </a:xfrm>
          <a:prstGeom prst="line">
            <a:avLst/>
          </a:prstGeom>
          <a:noFill/>
          <a:ln w="25400">
            <a:solidFill>
              <a:srgbClr val="19A7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61872"/>
            <a:ext cx="2240280" cy="3931920"/>
          </a:xfrm>
          <a:prstGeom prst="roundRect">
            <a:avLst>
              <a:gd name="adj" fmla="val 3265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F5A5F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4475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Hazard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886968" y="1773936"/>
            <a:ext cx="1837944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ML probability, dynamic trigger and susceptibility class.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06324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</a:rPr>
              <a:t>+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3520440" y="1261872"/>
            <a:ext cx="2240280" cy="3931920"/>
          </a:xfrm>
          <a:prstGeom prst="roundRect">
            <a:avLst>
              <a:gd name="adj" fmla="val 3265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2B84B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1608" y="144475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Exposure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3721608" y="1773936"/>
            <a:ext cx="1837944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Population, road corridor and nearby communities.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589788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</a:rPr>
              <a:t>+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6355080" y="1261872"/>
            <a:ext cx="2240280" cy="3931920"/>
          </a:xfrm>
          <a:prstGeom prst="roundRect">
            <a:avLst>
              <a:gd name="adj" fmla="val 3265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19A7A6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144475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Vulnerability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556248" y="1773936"/>
            <a:ext cx="1837944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Critical assets and community precursor evidence.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8732520" y="2578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73E2C9"/>
                </a:solidFill>
              </a:rPr>
              <a:t>→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9281160" y="1261872"/>
            <a:ext cx="2240280" cy="3931920"/>
          </a:xfrm>
          <a:prstGeom prst="roundRect">
            <a:avLst>
              <a:gd name="adj" fmla="val 3265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35C777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82328" y="144475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Impact priority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9482328" y="1773936"/>
            <a:ext cx="1837944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ROUTINE / WATCH / HIGH / VERY HIGH / EMERGENCY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777240" y="568756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This is the difference between a normal ML dashboard and a disaster-response intelligence system.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E95A4"/>
                </a:solidFill>
              </a:rPr>
              <a:t>PRAHARI • SIH26001 • AI-Based Early Warning and Landslide Risk Monitoring System in NER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5A4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 and IoT-ready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E2C9"/>
                </a:solidFill>
              </a:rPr>
              <a:t>Real sensors can be plugged into the same warning pipeline later.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2926080" cy="0"/>
          </a:xfrm>
          <a:prstGeom prst="line">
            <a:avLst/>
          </a:prstGeom>
          <a:noFill/>
          <a:ln w="25400">
            <a:solidFill>
              <a:srgbClr val="19A7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43000"/>
            <a:ext cx="2743200" cy="4434840"/>
          </a:xfrm>
          <a:prstGeom prst="roundRect">
            <a:avLst>
              <a:gd name="adj" fmla="val 266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35C777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258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Sensor packet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932688" y="1655064"/>
            <a:ext cx="2340864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Rainfall intensity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Soil moisture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Tilt angle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Ground vibration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Pore pressure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Displacement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Battery + quality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3794760" y="1143000"/>
            <a:ext cx="2743200" cy="4434840"/>
          </a:xfrm>
          <a:prstGeom prst="roundRect">
            <a:avLst>
              <a:gd name="adj" fmla="val 266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2B84B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95928" y="13258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Edge rule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3995928" y="1655064"/>
            <a:ext cx="2340864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Local node can flag extreme wetness + rainfall + deformation before cloud inference.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858000" y="114300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19A7A6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59168" y="132588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Truthful demo mode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7059168" y="1655064"/>
            <a:ext cx="3255264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Packets are labelled REAL_SENSOR, MANUAL_TEST or SIMULATED_HACKATHON so the presentation stays honest.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E95A4"/>
                </a:solidFill>
              </a:rPr>
              <a:t>PRAHARI • SIH26001 • AI-Based Early Warning and Landslide Risk Monitoring System in NER</a:t>
            </a:r>
            <a:endParaRPr lang="en-US" sz="660" dirty="0"/>
          </a:p>
        </p:txBody>
      </p:sp>
      <p:sp>
        <p:nvSpPr>
          <p:cNvPr id="15" name="Text 13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5A4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Alert and response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E2C9"/>
                </a:solidFill>
              </a:rPr>
              <a:t>Warnings must be clear, geo-targeted and learn from field outcomes.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2926080" cy="0"/>
          </a:xfrm>
          <a:prstGeom prst="line">
            <a:avLst/>
          </a:prstGeom>
          <a:noFill/>
          <a:ln w="25400">
            <a:solidFill>
              <a:srgbClr val="19A7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33856"/>
            <a:ext cx="2743200" cy="4389120"/>
          </a:xfrm>
          <a:prstGeom prst="roundRect">
            <a:avLst>
              <a:gd name="adj" fmla="val 266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F5A5F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1673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Alert creation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841248" y="1645920"/>
            <a:ext cx="2340864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HIGH/CRITICAL prediction, severe citizen report, edge telemetry, or emergency demo trigger.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3657600" y="1133856"/>
            <a:ext cx="2743200" cy="4389120"/>
          </a:xfrm>
          <a:prstGeom prst="roundRect">
            <a:avLst>
              <a:gd name="adj" fmla="val 266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2B84B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58768" y="131673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Communication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3858768" y="1645920"/>
            <a:ext cx="2340864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In-app alerts, browser notification, siren simulation, multilingual warning text, acknowledgement.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675120" y="1133856"/>
            <a:ext cx="2331720" cy="4389120"/>
          </a:xfrm>
          <a:prstGeom prst="roundRect">
            <a:avLst>
              <a:gd name="adj" fmla="val 313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19A7A6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76288" y="1316736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Geo-fencing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6876288" y="1645920"/>
            <a:ext cx="1929384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My Area checks whether user is near a dangerous monitored zone.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9281160" y="1133856"/>
            <a:ext cx="2240280" cy="4389120"/>
          </a:xfrm>
          <a:prstGeom prst="roundRect">
            <a:avLst>
              <a:gd name="adj" fmla="val 3265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35C777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2328" y="1316736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Feedback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9482328" y="1645920"/>
            <a:ext cx="1837944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CONFIRMED / FALSE ALARM / PARTIAL for calibration learning loop.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E95A4"/>
                </a:solidFill>
              </a:rPr>
              <a:t>PRAHARI • SIH26001 • AI-Based Early Warning and Landslide Risk Monitoring System in NER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5A4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 response routing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E2C9"/>
                </a:solidFill>
              </a:rPr>
              <a:t>Even with no internet, PRAHARI can show a prototype safer route.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2926080" cy="0"/>
          </a:xfrm>
          <a:prstGeom prst="line">
            <a:avLst/>
          </a:prstGeom>
          <a:noFill/>
          <a:ln w="25400">
            <a:solidFill>
              <a:srgbClr val="19A7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A5F"/>
                </a:solidFill>
              </a:rPr>
              <a:t>CRITICAL warning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84B"/>
                </a:solidFill>
              </a:rPr>
              <a:t>Impact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A7A6"/>
                </a:solidFill>
              </a:rPr>
              <a:t>Offline road graph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C777"/>
                </a:solidFill>
              </a:rPr>
              <a:t>Risk-weighted Dijkstra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0" y="1234440"/>
            <a:ext cx="3291840" cy="4297680"/>
          </a:xfrm>
          <a:prstGeom prst="roundRect">
            <a:avLst>
              <a:gd name="adj" fmla="val 2222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19A7A6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3088" y="1417320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Route output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4133088" y="1746504"/>
            <a:ext cx="2889504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Safer assembly point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Path nodes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Distance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Route exposure index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Response checklist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Prototype warning label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7635240" y="123444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F5A5F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36408" y="1417320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Honest limitation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7836408" y="1746504"/>
            <a:ext cx="2843784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Current safe points and routes are prototype. Production must use verified government road, closure and shelter GIS data.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E95A4"/>
                </a:solidFill>
              </a:rPr>
              <a:t>PRAHARI • SIH26001 • AI-Based Early Warning and Landslide Risk Monitoring System in NER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5A4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isometric_infographic_scene_of_a_landslide_ea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experience: command-center, not college form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30352" y="795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E2C9"/>
                </a:solidFill>
              </a:rPr>
              <a:t>Eight screens tell one operational story.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88136"/>
            <a:ext cx="2926080" cy="0"/>
          </a:xfrm>
          <a:prstGeom prst="line">
            <a:avLst/>
          </a:prstGeom>
          <a:noFill/>
          <a:ln w="25400">
            <a:solidFill>
              <a:srgbClr val="19A7A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384048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7F2F5"/>
                </a:solidFill>
              </a:rPr>
              <a:t>• Overview: situation summary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7F2F5"/>
                </a:solidFill>
              </a:rPr>
              <a:t>• Risk Map: station + overlays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7F2F5"/>
                </a:solidFill>
              </a:rPr>
              <a:t>• Satellite: offline/cached/online modes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7F2F5"/>
                </a:solidFill>
              </a:rPr>
              <a:t>• AI Analysis: risk, votes, uncertainty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7F2F5"/>
                </a:solidFill>
              </a:rPr>
              <a:t>• Citizen Reports: GPS + photo evidence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7F2F5"/>
                </a:solidFill>
              </a:rPr>
              <a:t>• Alerts: acknowledgement and feedback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7F2F5"/>
                </a:solidFill>
              </a:rPr>
              <a:t>• Infrastructure: road/asset impact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7F2F5"/>
                </a:solidFill>
              </a:rPr>
              <a:t>• System: health, model card and data truth</a:t>
            </a:r>
            <a:endParaRPr lang="en-US" sz="1120" dirty="0"/>
          </a:p>
        </p:txBody>
      </p:sp>
      <p:sp>
        <p:nvSpPr>
          <p:cNvPr id="7" name="Shape 4"/>
          <p:cNvSpPr/>
          <p:nvPr/>
        </p:nvSpPr>
        <p:spPr>
          <a:xfrm>
            <a:off x="5577840" y="1417320"/>
            <a:ext cx="5074920" cy="3520440"/>
          </a:xfrm>
          <a:prstGeom prst="roundRect">
            <a:avLst>
              <a:gd name="adj" fmla="val 2078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35C777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79008" y="1600200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Presentation experience</a:t>
            </a:r>
            <a:endParaRPr lang="en-US" sz="1280" dirty="0"/>
          </a:p>
        </p:txBody>
      </p:sp>
      <p:sp>
        <p:nvSpPr>
          <p:cNvPr id="9" name="Text 6"/>
          <p:cNvSpPr/>
          <p:nvPr/>
        </p:nvSpPr>
        <p:spPr>
          <a:xfrm>
            <a:off x="5779008" y="1929384"/>
            <a:ext cx="4672584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The dashboard is designed to let judges understand the full pipeline in under five minutes: observe → predict → warn → respond.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E95A4"/>
                </a:solidFill>
              </a:rPr>
              <a:t>PRAHARI • SIH26001 • AI-Based Early Warning and Landslide Risk Monitoring System in NER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5A4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truth 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E2C9"/>
                </a:solidFill>
              </a:rPr>
              <a:t>This protects the team from misinformation in viva.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2926080" cy="0"/>
          </a:xfrm>
          <a:prstGeom prst="line">
            <a:avLst/>
          </a:prstGeom>
          <a:noFill/>
          <a:ln w="25400">
            <a:solidFill>
              <a:srgbClr val="19A7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344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2B84B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41732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Weather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1024128" y="1746504"/>
            <a:ext cx="2340864" cy="-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840480" y="137160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Live/latest public model feed or fallback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911096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19A7A6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9397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Satellite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1024128" y="2423160"/>
            <a:ext cx="2340864" cy="-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3840480" y="2048256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NRT/cached imagery, not live video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587752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2B84B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277063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ML model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1024128" y="3099816"/>
            <a:ext cx="2340864" cy="-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3840480" y="272491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Bootstrap integration model, not field-validated accuracy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264408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19A7A6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44728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IoT sensors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1024128" y="3776472"/>
            <a:ext cx="2340864" cy="-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3840480" y="3401568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API-ready; no physical hardware connected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394106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2B84B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412394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Citizen reports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1024128" y="4453128"/>
            <a:ext cx="2340864" cy="-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3840480" y="407822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 runtime input; verification workflow needed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46177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19A7A6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80060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SMS/WhatsApp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1024128" y="5129784"/>
            <a:ext cx="2340864" cy="-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3840480" y="475488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Integration-ready only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" y="5294376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2B84B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547725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Routes/shelters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1024128" y="5806440"/>
            <a:ext cx="2340864" cy="-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3840480" y="5431536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Prototype offline graph, not official evacuation plan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58978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3E2C9"/>
                </a:solidFill>
              </a:rPr>
              <a:t>Best viva line: PRAHARI is a decision-support prototype that clearly marks data provenance and limitations.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E95A4"/>
                </a:solidFill>
              </a:rPr>
              <a:t>PRAHARI • SIH26001 • AI-Based Early Warning and Landslide Risk Monitoring System in NER</a:t>
            </a:r>
            <a:endParaRPr lang="en-US" sz="660" dirty="0"/>
          </a:p>
        </p:txBody>
      </p:sp>
      <p:sp>
        <p:nvSpPr>
          <p:cNvPr id="35" name="Text 33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5A4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scene_of_a_laptop_on_a_desk_in_a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Prize-winning demo path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30352" y="795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E2C9"/>
                </a:solidFill>
              </a:rPr>
              <a:t>No waiting, no fake claims, no broken dependencies.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88136"/>
            <a:ext cx="2926080" cy="0"/>
          </a:xfrm>
          <a:prstGeom prst="line">
            <a:avLst/>
          </a:prstGeom>
          <a:noFill/>
          <a:ln w="25400">
            <a:solidFill>
              <a:srgbClr val="19A7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" y="1143000"/>
            <a:ext cx="2377440" cy="4480560"/>
          </a:xfrm>
          <a:prstGeom prst="roundRect">
            <a:avLst>
              <a:gd name="adj" fmla="val 307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19A7A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132588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1. Open Overview</a:t>
            </a:r>
            <a:endParaRPr lang="en-US" sz="1280" dirty="0"/>
          </a:p>
        </p:txBody>
      </p:sp>
      <p:sp>
        <p:nvSpPr>
          <p:cNvPr id="8" name="Text 5"/>
          <p:cNvSpPr/>
          <p:nvPr/>
        </p:nvSpPr>
        <p:spPr>
          <a:xfrm>
            <a:off x="859536" y="1655064"/>
            <a:ext cx="1975104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Frame the problem and show system readiness.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3291840" y="1143000"/>
            <a:ext cx="2377440" cy="4480560"/>
          </a:xfrm>
          <a:prstGeom prst="roundRect">
            <a:avLst>
              <a:gd name="adj" fmla="val 307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35C777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93008" y="132588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2. Risk + Satellite</a:t>
            </a: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3493008" y="1655064"/>
            <a:ext cx="1975104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Use Offline EO Lite first, Cached NASA only if ready.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5925312" y="1143000"/>
            <a:ext cx="2377440" cy="4480560"/>
          </a:xfrm>
          <a:prstGeom prst="roundRect">
            <a:avLst>
              <a:gd name="adj" fmla="val 307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2B84B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132588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3. Trigger AI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6126480" y="1655064"/>
            <a:ext cx="1975104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Run cloudburst scenario; show explanation and guardrail.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8558784" y="1143000"/>
            <a:ext cx="2377440" cy="4480560"/>
          </a:xfrm>
          <a:prstGeom prst="roundRect">
            <a:avLst>
              <a:gd name="adj" fmla="val 3077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F5A5F">
                <a:alpha val="7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59952" y="132588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4. Close loop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8759952" y="1655064"/>
            <a:ext cx="1975104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Alert → report → impact → response route → feedback.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E95A4"/>
                </a:solidFill>
              </a:rPr>
              <a:t>PRAHARI • SIH26001 • AI-Based Early Warning and Landslide Risk Monitoring System in NER</a:t>
            </a:r>
            <a:endParaRPr lang="en-US" sz="660" dirty="0"/>
          </a:p>
        </p:txBody>
      </p:sp>
      <p:sp>
        <p:nvSpPr>
          <p:cNvPr id="19" name="Text 16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5A4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landscape_scene_of_a_mountainous_va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and closing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30352" y="795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E2C9"/>
                </a:solidFill>
              </a:rPr>
              <a:t>PRAHARI is already a working prototype; production makes it field-valid.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88136"/>
            <a:ext cx="2926080" cy="0"/>
          </a:xfrm>
          <a:prstGeom prst="line">
            <a:avLst/>
          </a:prstGeom>
          <a:noFill/>
          <a:ln w="25400">
            <a:solidFill>
              <a:srgbClr val="19A7A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188720"/>
            <a:ext cx="3108960" cy="4297680"/>
          </a:xfrm>
          <a:prstGeom prst="roundRect">
            <a:avLst>
              <a:gd name="adj" fmla="val 2353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19A7A6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371600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Next datasets</a:t>
            </a:r>
            <a:endParaRPr lang="en-US" sz="1280" dirty="0"/>
          </a:p>
        </p:txBody>
      </p:sp>
      <p:sp>
        <p:nvSpPr>
          <p:cNvPr id="8" name="Text 5"/>
          <p:cNvSpPr/>
          <p:nvPr/>
        </p:nvSpPr>
        <p:spPr>
          <a:xfrm>
            <a:off x="932688" y="1700784"/>
            <a:ext cx="2706624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Validated landslide inventories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DEM-derived terrain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Lithology and lineaments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Real asset / shelter GIS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Field sensor telemetry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4206240" y="1188720"/>
            <a:ext cx="3108960" cy="4297680"/>
          </a:xfrm>
          <a:prstGeom prst="roundRect">
            <a:avLst>
              <a:gd name="adj" fmla="val 2353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F2B84B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07408" y="1371600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Next algorithms</a:t>
            </a: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4407408" y="1700784"/>
            <a:ext cx="2706624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Spatial validation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Calibrated thresholds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InSAR deformation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Time-series forecasting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Digital twin / GNN research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7680960" y="1188720"/>
            <a:ext cx="3108960" cy="4297680"/>
          </a:xfrm>
          <a:prstGeom prst="roundRect">
            <a:avLst>
              <a:gd name="adj" fmla="val 2353"/>
            </a:avLst>
          </a:prstGeom>
          <a:solidFill>
            <a:srgbClr val="0B2230">
              <a:alpha val="95000"/>
            </a:srgbClr>
          </a:solidFill>
          <a:ln w="13970">
            <a:solidFill>
              <a:srgbClr val="35C777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82128" y="1371600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Deployment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7882128" y="1700784"/>
            <a:ext cx="2706624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PostGIS + cloud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RBAC authentication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CAP/SMS/WhatsApp gateways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Field pilots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8E7EE"/>
                </a:solidFill>
              </a:rPr>
              <a:t>Authority SOP integration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914400" y="580644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PRAHARI turns research-grade hazard intelligence into actionable, people-centred disaster response.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E95A4"/>
                </a:solidFill>
              </a:rPr>
              <a:t>PRAHARI • SIH26001 • AI-Based Early Warning and Landslide Risk Monitoring System in NER</a:t>
            </a:r>
            <a:endParaRPr lang="en-US" sz="660" dirty="0"/>
          </a:p>
        </p:txBody>
      </p:sp>
      <p:sp>
        <p:nvSpPr>
          <p:cNvPr id="17" name="Text 14"/>
          <p:cNvSpPr/>
          <p:nvPr/>
        </p:nvSpPr>
        <p:spPr>
          <a:xfrm>
            <a:off x="1143000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5A4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Dev Bhoomi Uttarakhand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PRAHARI — Predictive Risk Assessment, Hazard Alert &amp; Response Intelligence</dc:title>
  <dc:subject>SIH26001 Landslide Early Warning</dc:subject>
  <dc:creator>PRAHARI Team</dc:creator>
  <cp:lastModifiedBy>PRAHARI Team</cp:lastModifiedBy>
  <cp:revision>1</cp:revision>
  <dcterms:created xsi:type="dcterms:W3CDTF">2026-09-09T17:21:37Z</dcterms:created>
  <dcterms:modified xsi:type="dcterms:W3CDTF">2026-09-09T17:21:37Z</dcterms:modified>
</cp:coreProperties>
</file>